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751"/>
    <p:restoredTop sz="94694"/>
  </p:normalViewPr>
  <p:slideViewPr>
    <p:cSldViewPr snapToGrid="0">
      <p:cViewPr>
        <p:scale>
          <a:sx n="74" d="100"/>
          <a:sy n="74" d="100"/>
        </p:scale>
        <p:origin x="1056" y="1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4AD87A9-8D69-BA14-1912-C53D4069E8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DE9E9A0D-2069-FE43-0241-5AA0C2562B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76D5F1C-500C-C1E7-E468-0C3978B8F3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7B007-7982-5A4F-B1DA-721B466174D3}" type="datetimeFigureOut">
              <a:rPr kumimoji="1" lang="ja-JP" altLang="en-US" smtClean="0"/>
              <a:t>2025/12/5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CBC51AF-7AD7-2F9E-BFD7-D3A6602C79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43E904B-A385-F07F-BA87-49C09A7901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9C244-3E04-534D-8DC1-8FA6E41E6C9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265399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2FBD4D3-F690-D5EF-02BA-3365B6A24E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1F5D4A1-9F4A-F705-3BFF-9500D8BCC9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F5A3C92-2AA6-CDEC-4860-2E0DE6E8A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7B007-7982-5A4F-B1DA-721B466174D3}" type="datetimeFigureOut">
              <a:rPr kumimoji="1" lang="ja-JP" altLang="en-US" smtClean="0"/>
              <a:t>2025/12/5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9062F66-078A-1DEE-6242-E348F7A193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9DDDD5E-694A-67A8-D0E1-70D9272099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9C244-3E04-534D-8DC1-8FA6E41E6C9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907695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01130FC-D6BC-7A61-7D32-17535E42FA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639A021-884D-47B8-339D-0E12B97805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F96608A-4316-5E7B-81E5-15EB5BC070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7B007-7982-5A4F-B1DA-721B466174D3}" type="datetimeFigureOut">
              <a:rPr kumimoji="1" lang="ja-JP" altLang="en-US" smtClean="0"/>
              <a:t>2025/12/5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C235D25-79ED-D11A-4B85-EDE986D05C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1F92C4A-23A6-BE01-8AB7-30D7341C22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9C244-3E04-534D-8DC1-8FA6E41E6C9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390152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5673BA1-2A9C-C802-D84C-86D149F05B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209BF25-B30F-3068-9460-B9612979203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CD9C50C1-5F3E-B593-52A7-45381FAED4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5F80CCF-7875-164D-4695-87C012BD54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7B007-7982-5A4F-B1DA-721B466174D3}" type="datetimeFigureOut">
              <a:rPr kumimoji="1" lang="ja-JP" altLang="en-US" smtClean="0"/>
              <a:t>2025/12/5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7A7F767-9532-2151-DF79-A9AEE71AB1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E212BBE-E99C-4E42-18EF-2A74D7032E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9C244-3E04-534D-8DC1-8FA6E41E6C9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906516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BB2DA45-6436-F0D6-6497-ADD74FD9BD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F856742-88F0-2A0F-E6F1-A242BFB680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7D663ADB-C8F6-1253-DD3A-BF3B5E3BCD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89FF6E9B-83D6-22C7-2523-A2C23F3DD0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40C1CD1-E896-61BA-2908-247969FBB57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48932F49-9446-AFD2-7FAC-3004C07A11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7B007-7982-5A4F-B1DA-721B466174D3}" type="datetimeFigureOut">
              <a:rPr kumimoji="1" lang="ja-JP" altLang="en-US" smtClean="0"/>
              <a:t>2025/12/5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62AEBB82-9480-5C73-7744-429453E3EB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9CB600D9-CA6E-FF99-4144-FF26111A8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9C244-3E04-534D-8DC1-8FA6E41E6C9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753784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5C2A670-7EEC-BC57-F4E6-25D6FBD954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EEB181B1-F9D5-4581-04BB-38B57429E2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7B007-7982-5A4F-B1DA-721B466174D3}" type="datetimeFigureOut">
              <a:rPr kumimoji="1" lang="ja-JP" altLang="en-US" smtClean="0"/>
              <a:t>2025/12/5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0C68A9E6-463A-21B8-1F5E-724CC43BFD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AFFF01F5-F0EA-D2B8-1191-F995902F8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9C244-3E04-534D-8DC1-8FA6E41E6C9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714903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33E9A516-6814-7BB9-7B3C-D65E34D949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7B007-7982-5A4F-B1DA-721B466174D3}" type="datetimeFigureOut">
              <a:rPr kumimoji="1" lang="ja-JP" altLang="en-US" smtClean="0"/>
              <a:t>2025/12/5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69774328-213D-E843-7CDA-C09C2D91F6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35058F1-ECA9-76F5-AE4D-7F4F9045D8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9C244-3E04-534D-8DC1-8FA6E41E6C9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970791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D6C576A-4FF8-7E64-3AE8-E04D746052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464BB58-FBBF-13A8-D102-10422759D4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7A1791CE-271E-314F-4164-11078A1C2F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FB13780-F25E-4012-3E2A-90E25E042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7B007-7982-5A4F-B1DA-721B466174D3}" type="datetimeFigureOut">
              <a:rPr kumimoji="1" lang="ja-JP" altLang="en-US" smtClean="0"/>
              <a:t>2025/12/5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FB8F8C6-D3B5-7AD9-7836-86CB08A542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70C597E-40DF-096F-27AD-87DCB1045B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9C244-3E04-534D-8DC1-8FA6E41E6C9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394206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B405E72-54D7-89C4-EF6D-92B6FAC8AC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5968B87B-6FED-C360-741C-C175C6EE5AC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170100C1-3584-ABDD-F1E1-0B76A85C17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744944E-1DF6-AC1B-EBE0-99D06C48A8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7B007-7982-5A4F-B1DA-721B466174D3}" type="datetimeFigureOut">
              <a:rPr kumimoji="1" lang="ja-JP" altLang="en-US" smtClean="0"/>
              <a:t>2025/12/5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ADE35DC-DD29-E917-A311-FFAB51D638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FFE6C9E-3B99-5BD1-9988-DF09495B8C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9C244-3E04-534D-8DC1-8FA6E41E6C9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64090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5B5E18A-92B7-F58E-9A1E-DE2E697003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D25FA57B-8DF1-992F-DB55-E4C7CD9A85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F630B8B-53C3-DB18-8BD2-784A979BD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7B007-7982-5A4F-B1DA-721B466174D3}" type="datetimeFigureOut">
              <a:rPr kumimoji="1" lang="ja-JP" altLang="en-US" smtClean="0"/>
              <a:t>2025/12/5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D5FB116-ABC1-2548-CA04-4CEBD09D6C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ED8A93E-8202-9CBB-50E4-88FE5C92B7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9C244-3E04-534D-8DC1-8FA6E41E6C9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304032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1CFAC3F4-49CE-D2D2-F232-6B4AC5DC9EF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A0FC6D93-DA71-6F37-84C6-0957E0321C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344214D-895E-F604-389B-A5E5591272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7B007-7982-5A4F-B1DA-721B466174D3}" type="datetimeFigureOut">
              <a:rPr kumimoji="1" lang="ja-JP" altLang="en-US" smtClean="0"/>
              <a:t>2025/12/5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798B5E3-E962-1D1E-3484-4B68E13A51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4DEBAD1-AF11-A445-7460-C3A72F18B8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9C244-3E04-534D-8DC1-8FA6E41E6C9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927314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C805E9C1-3687-4AA1-0F26-1423382713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D6124F1-D029-3140-B45E-C39945E07A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7FFC3CF-458F-0A0E-5AD0-18FC6229B9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97B007-7982-5A4F-B1DA-721B466174D3}" type="datetimeFigureOut">
              <a:rPr kumimoji="1" lang="ja-JP" altLang="en-US" smtClean="0"/>
              <a:t>2025/12/5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BEEC2EA-2610-76AF-EF47-79721524B2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EB0CFD0-0A00-31A7-45A8-6B1905DA45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69C244-3E04-534D-8DC1-8FA6E41E6C9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042993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8131AEB-7F04-BF72-ED18-DF5D1BD648F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003673A-2384-C896-BD05-0284E67C384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113553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図 25" descr="グラフ, 散布図&#10;&#10;自動的に生成された説明">
            <a:extLst>
              <a:ext uri="{FF2B5EF4-FFF2-40B4-BE49-F238E27FC236}">
                <a16:creationId xmlns:a16="http://schemas.microsoft.com/office/drawing/2014/main" id="{FC3ABBB9-CF3D-19F3-EB27-DB288BF04E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7917" y="31882"/>
            <a:ext cx="7772400" cy="6826118"/>
          </a:xfrm>
          <a:prstGeom prst="rect">
            <a:avLst/>
          </a:prstGeom>
        </p:spPr>
      </p:pic>
      <p:grpSp>
        <p:nvGrpSpPr>
          <p:cNvPr id="24" name="グループ化 23">
            <a:extLst>
              <a:ext uri="{FF2B5EF4-FFF2-40B4-BE49-F238E27FC236}">
                <a16:creationId xmlns:a16="http://schemas.microsoft.com/office/drawing/2014/main" id="{BB1D6E6C-2D37-B424-0E49-D9DFE95F75C4}"/>
              </a:ext>
            </a:extLst>
          </p:cNvPr>
          <p:cNvGrpSpPr/>
          <p:nvPr/>
        </p:nvGrpSpPr>
        <p:grpSpPr>
          <a:xfrm>
            <a:off x="3878865" y="2310293"/>
            <a:ext cx="4229711" cy="2797151"/>
            <a:chOff x="3865418" y="2283399"/>
            <a:chExt cx="4340931" cy="2803947"/>
          </a:xfrm>
        </p:grpSpPr>
        <p:sp>
          <p:nvSpPr>
            <p:cNvPr id="10" name="フリーフォーム 9">
              <a:extLst>
                <a:ext uri="{FF2B5EF4-FFF2-40B4-BE49-F238E27FC236}">
                  <a16:creationId xmlns:a16="http://schemas.microsoft.com/office/drawing/2014/main" id="{95DAD515-7BBE-6588-98EC-82BE88E3ACFF}"/>
                </a:ext>
              </a:extLst>
            </p:cNvPr>
            <p:cNvSpPr/>
            <p:nvPr/>
          </p:nvSpPr>
          <p:spPr>
            <a:xfrm>
              <a:off x="3865418" y="2389239"/>
              <a:ext cx="2347123" cy="2321072"/>
            </a:xfrm>
            <a:custGeom>
              <a:avLst/>
              <a:gdLst>
                <a:gd name="connsiteX0" fmla="*/ 119177 w 2344399"/>
                <a:gd name="connsiteY0" fmla="*/ 761831 h 2207276"/>
                <a:gd name="connsiteX1" fmla="*/ 400028 w 2344399"/>
                <a:gd name="connsiteY1" fmla="*/ 1225562 h 2207276"/>
                <a:gd name="connsiteX2" fmla="*/ 644957 w 2344399"/>
                <a:gd name="connsiteY2" fmla="*/ 1569551 h 2207276"/>
                <a:gd name="connsiteX3" fmla="*/ 591617 w 2344399"/>
                <a:gd name="connsiteY3" fmla="*/ 1866731 h 2207276"/>
                <a:gd name="connsiteX4" fmla="*/ 728777 w 2344399"/>
                <a:gd name="connsiteY4" fmla="*/ 2186771 h 2207276"/>
                <a:gd name="connsiteX5" fmla="*/ 1125017 w 2344399"/>
                <a:gd name="connsiteY5" fmla="*/ 2163911 h 2207276"/>
                <a:gd name="connsiteX6" fmla="*/ 1125017 w 2344399"/>
                <a:gd name="connsiteY6" fmla="*/ 2072471 h 2207276"/>
                <a:gd name="connsiteX7" fmla="*/ 1025957 w 2344399"/>
                <a:gd name="connsiteY7" fmla="*/ 1752431 h 2207276"/>
                <a:gd name="connsiteX8" fmla="*/ 896417 w 2344399"/>
                <a:gd name="connsiteY8" fmla="*/ 1363811 h 2207276"/>
                <a:gd name="connsiteX9" fmla="*/ 1208837 w 2344399"/>
                <a:gd name="connsiteY9" fmla="*/ 1150451 h 2207276"/>
                <a:gd name="connsiteX10" fmla="*/ 1467917 w 2344399"/>
                <a:gd name="connsiteY10" fmla="*/ 868511 h 2207276"/>
                <a:gd name="connsiteX11" fmla="*/ 1666037 w 2344399"/>
                <a:gd name="connsiteY11" fmla="*/ 921851 h 2207276"/>
                <a:gd name="connsiteX12" fmla="*/ 1909877 w 2344399"/>
                <a:gd name="connsiteY12" fmla="*/ 1424771 h 2207276"/>
                <a:gd name="connsiteX13" fmla="*/ 2344217 w 2344399"/>
                <a:gd name="connsiteY13" fmla="*/ 769451 h 2207276"/>
                <a:gd name="connsiteX14" fmla="*/ 1855594 w 2344399"/>
                <a:gd name="connsiteY14" fmla="*/ 284363 h 2207276"/>
                <a:gd name="connsiteX15" fmla="*/ 573549 w 2344399"/>
                <a:gd name="connsiteY15" fmla="*/ 1559 h 2207276"/>
                <a:gd name="connsiteX16" fmla="*/ 26794 w 2344399"/>
                <a:gd name="connsiteY16" fmla="*/ 199522 h 2207276"/>
                <a:gd name="connsiteX17" fmla="*/ 119177 w 2344399"/>
                <a:gd name="connsiteY17" fmla="*/ 761831 h 22072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344399" h="2207276">
                  <a:moveTo>
                    <a:pt x="119177" y="761831"/>
                  </a:moveTo>
                  <a:cubicBezTo>
                    <a:pt x="181383" y="932838"/>
                    <a:pt x="312398" y="1090942"/>
                    <a:pt x="400028" y="1225562"/>
                  </a:cubicBezTo>
                  <a:cubicBezTo>
                    <a:pt x="487658" y="1360182"/>
                    <a:pt x="613026" y="1462690"/>
                    <a:pt x="644957" y="1569551"/>
                  </a:cubicBezTo>
                  <a:cubicBezTo>
                    <a:pt x="676888" y="1676412"/>
                    <a:pt x="577647" y="1763861"/>
                    <a:pt x="591617" y="1866731"/>
                  </a:cubicBezTo>
                  <a:cubicBezTo>
                    <a:pt x="605587" y="1969601"/>
                    <a:pt x="639877" y="2137241"/>
                    <a:pt x="728777" y="2186771"/>
                  </a:cubicBezTo>
                  <a:cubicBezTo>
                    <a:pt x="817677" y="2236301"/>
                    <a:pt x="1058977" y="2182961"/>
                    <a:pt x="1125017" y="2163911"/>
                  </a:cubicBezTo>
                  <a:cubicBezTo>
                    <a:pt x="1191057" y="2144861"/>
                    <a:pt x="1141527" y="2141051"/>
                    <a:pt x="1125017" y="2072471"/>
                  </a:cubicBezTo>
                  <a:cubicBezTo>
                    <a:pt x="1108507" y="2003891"/>
                    <a:pt x="1064057" y="1870541"/>
                    <a:pt x="1025957" y="1752431"/>
                  </a:cubicBezTo>
                  <a:cubicBezTo>
                    <a:pt x="987857" y="1634321"/>
                    <a:pt x="865937" y="1464141"/>
                    <a:pt x="896417" y="1363811"/>
                  </a:cubicBezTo>
                  <a:cubicBezTo>
                    <a:pt x="926897" y="1263481"/>
                    <a:pt x="1113587" y="1233001"/>
                    <a:pt x="1208837" y="1150451"/>
                  </a:cubicBezTo>
                  <a:cubicBezTo>
                    <a:pt x="1304087" y="1067901"/>
                    <a:pt x="1391717" y="906611"/>
                    <a:pt x="1467917" y="868511"/>
                  </a:cubicBezTo>
                  <a:cubicBezTo>
                    <a:pt x="1544117" y="830411"/>
                    <a:pt x="1592377" y="829141"/>
                    <a:pt x="1666037" y="921851"/>
                  </a:cubicBezTo>
                  <a:cubicBezTo>
                    <a:pt x="1739697" y="1014561"/>
                    <a:pt x="1796847" y="1450171"/>
                    <a:pt x="1909877" y="1424771"/>
                  </a:cubicBezTo>
                  <a:cubicBezTo>
                    <a:pt x="2022907" y="1399371"/>
                    <a:pt x="2353264" y="959519"/>
                    <a:pt x="2344217" y="769451"/>
                  </a:cubicBezTo>
                  <a:cubicBezTo>
                    <a:pt x="2335170" y="579383"/>
                    <a:pt x="2150705" y="412345"/>
                    <a:pt x="1855594" y="284363"/>
                  </a:cubicBezTo>
                  <a:cubicBezTo>
                    <a:pt x="1560483" y="156381"/>
                    <a:pt x="878349" y="15699"/>
                    <a:pt x="573549" y="1559"/>
                  </a:cubicBezTo>
                  <a:cubicBezTo>
                    <a:pt x="268749" y="-12581"/>
                    <a:pt x="103779" y="70689"/>
                    <a:pt x="26794" y="199522"/>
                  </a:cubicBezTo>
                  <a:cubicBezTo>
                    <a:pt x="-50191" y="328355"/>
                    <a:pt x="56971" y="590824"/>
                    <a:pt x="119177" y="761831"/>
                  </a:cubicBezTo>
                  <a:close/>
                </a:path>
              </a:pathLst>
            </a:custGeom>
            <a:noFill/>
            <a:ln w="28575">
              <a:solidFill>
                <a:srgbClr val="C00000"/>
              </a:solidFill>
              <a:prstDash val="dash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1" name="フリーフォーム 10">
              <a:extLst>
                <a:ext uri="{FF2B5EF4-FFF2-40B4-BE49-F238E27FC236}">
                  <a16:creationId xmlns:a16="http://schemas.microsoft.com/office/drawing/2014/main" id="{3503C834-42B2-0C0D-AA74-5F94D3E17A9E}"/>
                </a:ext>
              </a:extLst>
            </p:cNvPr>
            <p:cNvSpPr/>
            <p:nvPr/>
          </p:nvSpPr>
          <p:spPr>
            <a:xfrm>
              <a:off x="5076798" y="3897335"/>
              <a:ext cx="673768" cy="673769"/>
            </a:xfrm>
            <a:custGeom>
              <a:avLst/>
              <a:gdLst>
                <a:gd name="connsiteX0" fmla="*/ 0 w 673768"/>
                <a:gd name="connsiteY0" fmla="*/ 673769 h 673769"/>
                <a:gd name="connsiteX1" fmla="*/ 519764 w 673768"/>
                <a:gd name="connsiteY1" fmla="*/ 308009 h 673769"/>
                <a:gd name="connsiteX2" fmla="*/ 673768 w 673768"/>
                <a:gd name="connsiteY2" fmla="*/ 0 h 673769"/>
                <a:gd name="connsiteX3" fmla="*/ 673768 w 673768"/>
                <a:gd name="connsiteY3" fmla="*/ 0 h 6737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3768" h="673769">
                  <a:moveTo>
                    <a:pt x="0" y="673769"/>
                  </a:moveTo>
                  <a:cubicBezTo>
                    <a:pt x="203734" y="547036"/>
                    <a:pt x="407469" y="420304"/>
                    <a:pt x="519764" y="308009"/>
                  </a:cubicBezTo>
                  <a:cubicBezTo>
                    <a:pt x="632059" y="195714"/>
                    <a:pt x="673768" y="0"/>
                    <a:pt x="673768" y="0"/>
                  </a:cubicBezTo>
                  <a:lnTo>
                    <a:pt x="673768" y="0"/>
                  </a:lnTo>
                </a:path>
              </a:pathLst>
            </a:custGeom>
            <a:noFill/>
            <a:ln w="28575">
              <a:solidFill>
                <a:srgbClr val="C0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4" name="フリーフォーム 13">
              <a:extLst>
                <a:ext uri="{FF2B5EF4-FFF2-40B4-BE49-F238E27FC236}">
                  <a16:creationId xmlns:a16="http://schemas.microsoft.com/office/drawing/2014/main" id="{95A5AF88-D0F9-894C-2C12-E113659610E2}"/>
                </a:ext>
              </a:extLst>
            </p:cNvPr>
            <p:cNvSpPr/>
            <p:nvPr/>
          </p:nvSpPr>
          <p:spPr>
            <a:xfrm>
              <a:off x="6036319" y="2283399"/>
              <a:ext cx="1019009" cy="1310257"/>
            </a:xfrm>
            <a:custGeom>
              <a:avLst/>
              <a:gdLst>
                <a:gd name="connsiteX0" fmla="*/ 0 w 1019009"/>
                <a:gd name="connsiteY0" fmla="*/ 1310257 h 1310257"/>
                <a:gd name="connsiteX1" fmla="*/ 575496 w 1019009"/>
                <a:gd name="connsiteY1" fmla="*/ 1246313 h 1310257"/>
                <a:gd name="connsiteX2" fmla="*/ 543524 w 1019009"/>
                <a:gd name="connsiteY2" fmla="*/ 1105636 h 1310257"/>
                <a:gd name="connsiteX3" fmla="*/ 466791 w 1019009"/>
                <a:gd name="connsiteY3" fmla="*/ 971353 h 1310257"/>
                <a:gd name="connsiteX4" fmla="*/ 665018 w 1019009"/>
                <a:gd name="connsiteY4" fmla="*/ 773127 h 1310257"/>
                <a:gd name="connsiteX5" fmla="*/ 952766 w 1019009"/>
                <a:gd name="connsiteY5" fmla="*/ 798704 h 1310257"/>
                <a:gd name="connsiteX6" fmla="*/ 1016710 w 1019009"/>
                <a:gd name="connsiteY6" fmla="*/ 172053 h 1310257"/>
                <a:gd name="connsiteX7" fmla="*/ 901611 w 1019009"/>
                <a:gd name="connsiteY7" fmla="*/ 5798 h 1310257"/>
                <a:gd name="connsiteX8" fmla="*/ 722568 w 1019009"/>
                <a:gd name="connsiteY8" fmla="*/ 325518 h 1310257"/>
                <a:gd name="connsiteX9" fmla="*/ 569102 w 1019009"/>
                <a:gd name="connsiteY9" fmla="*/ 600478 h 1310257"/>
                <a:gd name="connsiteX10" fmla="*/ 179043 w 1019009"/>
                <a:gd name="connsiteY10" fmla="*/ 824282 h 13102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19009" h="1310257">
                  <a:moveTo>
                    <a:pt x="0" y="1310257"/>
                  </a:moveTo>
                  <a:cubicBezTo>
                    <a:pt x="242454" y="1295336"/>
                    <a:pt x="484909" y="1280416"/>
                    <a:pt x="575496" y="1246313"/>
                  </a:cubicBezTo>
                  <a:cubicBezTo>
                    <a:pt x="666083" y="1212210"/>
                    <a:pt x="561642" y="1151463"/>
                    <a:pt x="543524" y="1105636"/>
                  </a:cubicBezTo>
                  <a:cubicBezTo>
                    <a:pt x="525407" y="1059809"/>
                    <a:pt x="446542" y="1026771"/>
                    <a:pt x="466791" y="971353"/>
                  </a:cubicBezTo>
                  <a:cubicBezTo>
                    <a:pt x="487040" y="915935"/>
                    <a:pt x="584022" y="801902"/>
                    <a:pt x="665018" y="773127"/>
                  </a:cubicBezTo>
                  <a:cubicBezTo>
                    <a:pt x="746014" y="744352"/>
                    <a:pt x="894151" y="898883"/>
                    <a:pt x="952766" y="798704"/>
                  </a:cubicBezTo>
                  <a:cubicBezTo>
                    <a:pt x="1011381" y="698525"/>
                    <a:pt x="1025236" y="304204"/>
                    <a:pt x="1016710" y="172053"/>
                  </a:cubicBezTo>
                  <a:cubicBezTo>
                    <a:pt x="1008184" y="39902"/>
                    <a:pt x="950635" y="-19780"/>
                    <a:pt x="901611" y="5798"/>
                  </a:cubicBezTo>
                  <a:cubicBezTo>
                    <a:pt x="852587" y="31375"/>
                    <a:pt x="722568" y="325518"/>
                    <a:pt x="722568" y="325518"/>
                  </a:cubicBezTo>
                  <a:cubicBezTo>
                    <a:pt x="667150" y="424631"/>
                    <a:pt x="659690" y="517351"/>
                    <a:pt x="569102" y="600478"/>
                  </a:cubicBezTo>
                  <a:cubicBezTo>
                    <a:pt x="478515" y="683605"/>
                    <a:pt x="328779" y="753943"/>
                    <a:pt x="179043" y="824282"/>
                  </a:cubicBezTo>
                </a:path>
              </a:pathLst>
            </a:custGeom>
            <a:noFill/>
            <a:ln w="28575">
              <a:solidFill>
                <a:srgbClr val="C0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6" name="フリーフォーム 15">
              <a:extLst>
                <a:ext uri="{FF2B5EF4-FFF2-40B4-BE49-F238E27FC236}">
                  <a16:creationId xmlns:a16="http://schemas.microsoft.com/office/drawing/2014/main" id="{CA3402D9-94D0-580C-8C87-F074FF2A24DD}"/>
                </a:ext>
              </a:extLst>
            </p:cNvPr>
            <p:cNvSpPr/>
            <p:nvPr/>
          </p:nvSpPr>
          <p:spPr>
            <a:xfrm>
              <a:off x="5319501" y="3632568"/>
              <a:ext cx="1226321" cy="1454778"/>
            </a:xfrm>
            <a:custGeom>
              <a:avLst/>
              <a:gdLst>
                <a:gd name="connsiteX0" fmla="*/ 702200 w 1347957"/>
                <a:gd name="connsiteY0" fmla="*/ 102140 h 1512929"/>
                <a:gd name="connsiteX1" fmla="*/ 848115 w 1347957"/>
                <a:gd name="connsiteY1" fmla="*/ 612842 h 1512929"/>
                <a:gd name="connsiteX2" fmla="*/ 590332 w 1347957"/>
                <a:gd name="connsiteY2" fmla="*/ 826851 h 1512929"/>
                <a:gd name="connsiteX3" fmla="*/ 89357 w 1347957"/>
                <a:gd name="connsiteY3" fmla="*/ 807396 h 1512929"/>
                <a:gd name="connsiteX4" fmla="*/ 65038 w 1347957"/>
                <a:gd name="connsiteY4" fmla="*/ 1113817 h 1512929"/>
                <a:gd name="connsiteX5" fmla="*/ 760566 w 1347957"/>
                <a:gd name="connsiteY5" fmla="*/ 1512651 h 1512929"/>
                <a:gd name="connsiteX6" fmla="*/ 1339362 w 1347957"/>
                <a:gd name="connsiteY6" fmla="*/ 1050587 h 1512929"/>
                <a:gd name="connsiteX7" fmla="*/ 1101034 w 1347957"/>
                <a:gd name="connsiteY7" fmla="*/ 749030 h 1512929"/>
                <a:gd name="connsiteX8" fmla="*/ 1013485 w 1347957"/>
                <a:gd name="connsiteY8" fmla="*/ 0 h 15129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47957" h="1512929">
                  <a:moveTo>
                    <a:pt x="702200" y="102140"/>
                  </a:moveTo>
                  <a:cubicBezTo>
                    <a:pt x="784480" y="297098"/>
                    <a:pt x="866760" y="492057"/>
                    <a:pt x="848115" y="612842"/>
                  </a:cubicBezTo>
                  <a:cubicBezTo>
                    <a:pt x="829470" y="733627"/>
                    <a:pt x="716792" y="794425"/>
                    <a:pt x="590332" y="826851"/>
                  </a:cubicBezTo>
                  <a:cubicBezTo>
                    <a:pt x="463872" y="859277"/>
                    <a:pt x="176906" y="759568"/>
                    <a:pt x="89357" y="807396"/>
                  </a:cubicBezTo>
                  <a:cubicBezTo>
                    <a:pt x="1808" y="855224"/>
                    <a:pt x="-46830" y="996275"/>
                    <a:pt x="65038" y="1113817"/>
                  </a:cubicBezTo>
                  <a:cubicBezTo>
                    <a:pt x="176906" y="1231359"/>
                    <a:pt x="548179" y="1523189"/>
                    <a:pt x="760566" y="1512651"/>
                  </a:cubicBezTo>
                  <a:cubicBezTo>
                    <a:pt x="972953" y="1502113"/>
                    <a:pt x="1282617" y="1177857"/>
                    <a:pt x="1339362" y="1050587"/>
                  </a:cubicBezTo>
                  <a:cubicBezTo>
                    <a:pt x="1396107" y="923317"/>
                    <a:pt x="1155347" y="924128"/>
                    <a:pt x="1101034" y="749030"/>
                  </a:cubicBezTo>
                  <a:cubicBezTo>
                    <a:pt x="1046721" y="573932"/>
                    <a:pt x="1030103" y="286966"/>
                    <a:pt x="1013485" y="0"/>
                  </a:cubicBezTo>
                </a:path>
              </a:pathLst>
            </a:custGeom>
            <a:noFill/>
            <a:ln w="28575">
              <a:solidFill>
                <a:srgbClr val="C0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7" name="フリーフォーム 16">
              <a:extLst>
                <a:ext uri="{FF2B5EF4-FFF2-40B4-BE49-F238E27FC236}">
                  <a16:creationId xmlns:a16="http://schemas.microsoft.com/office/drawing/2014/main" id="{9061EAFF-E3CF-24AE-3EFE-2F003B8255FF}"/>
                </a:ext>
              </a:extLst>
            </p:cNvPr>
            <p:cNvSpPr/>
            <p:nvPr/>
          </p:nvSpPr>
          <p:spPr>
            <a:xfrm>
              <a:off x="6239814" y="3573887"/>
              <a:ext cx="968797" cy="1136424"/>
            </a:xfrm>
            <a:custGeom>
              <a:avLst/>
              <a:gdLst>
                <a:gd name="connsiteX0" fmla="*/ 0 w 968797"/>
                <a:gd name="connsiteY0" fmla="*/ 135228 h 1136424"/>
                <a:gd name="connsiteX1" fmla="*/ 251138 w 968797"/>
                <a:gd name="connsiteY1" fmla="*/ 341290 h 1136424"/>
                <a:gd name="connsiteX2" fmla="*/ 276896 w 968797"/>
                <a:gd name="connsiteY2" fmla="*/ 663262 h 1136424"/>
                <a:gd name="connsiteX3" fmla="*/ 463640 w 968797"/>
                <a:gd name="connsiteY3" fmla="*/ 631065 h 1136424"/>
                <a:gd name="connsiteX4" fmla="*/ 753414 w 968797"/>
                <a:gd name="connsiteY4" fmla="*/ 1126902 h 1136424"/>
                <a:gd name="connsiteX5" fmla="*/ 940158 w 968797"/>
                <a:gd name="connsiteY5" fmla="*/ 882203 h 1136424"/>
                <a:gd name="connsiteX6" fmla="*/ 122349 w 968797"/>
                <a:gd name="connsiteY6" fmla="*/ 0 h 11364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68797" h="1136424">
                  <a:moveTo>
                    <a:pt x="0" y="135228"/>
                  </a:moveTo>
                  <a:cubicBezTo>
                    <a:pt x="102494" y="194256"/>
                    <a:pt x="204989" y="253284"/>
                    <a:pt x="251138" y="341290"/>
                  </a:cubicBezTo>
                  <a:cubicBezTo>
                    <a:pt x="297287" y="429296"/>
                    <a:pt x="241479" y="614966"/>
                    <a:pt x="276896" y="663262"/>
                  </a:cubicBezTo>
                  <a:cubicBezTo>
                    <a:pt x="312313" y="711558"/>
                    <a:pt x="384220" y="553792"/>
                    <a:pt x="463640" y="631065"/>
                  </a:cubicBezTo>
                  <a:cubicBezTo>
                    <a:pt x="543060" y="708338"/>
                    <a:pt x="673994" y="1085046"/>
                    <a:pt x="753414" y="1126902"/>
                  </a:cubicBezTo>
                  <a:cubicBezTo>
                    <a:pt x="832834" y="1168758"/>
                    <a:pt x="1045335" y="1070020"/>
                    <a:pt x="940158" y="882203"/>
                  </a:cubicBezTo>
                  <a:cubicBezTo>
                    <a:pt x="834981" y="694386"/>
                    <a:pt x="478665" y="347193"/>
                    <a:pt x="122349" y="0"/>
                  </a:cubicBezTo>
                </a:path>
              </a:pathLst>
            </a:custGeom>
            <a:noFill/>
            <a:ln w="28575">
              <a:solidFill>
                <a:srgbClr val="C0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8" name="フリーフォーム 17">
              <a:extLst>
                <a:ext uri="{FF2B5EF4-FFF2-40B4-BE49-F238E27FC236}">
                  <a16:creationId xmlns:a16="http://schemas.microsoft.com/office/drawing/2014/main" id="{9E4D2710-F0F7-801B-F8D0-3898C35632F0}"/>
                </a:ext>
              </a:extLst>
            </p:cNvPr>
            <p:cNvSpPr/>
            <p:nvPr/>
          </p:nvSpPr>
          <p:spPr>
            <a:xfrm>
              <a:off x="6607624" y="3536429"/>
              <a:ext cx="530791" cy="353686"/>
            </a:xfrm>
            <a:custGeom>
              <a:avLst/>
              <a:gdLst>
                <a:gd name="connsiteX0" fmla="*/ 12117 w 530791"/>
                <a:gd name="connsiteY0" fmla="*/ 82534 h 353686"/>
                <a:gd name="connsiteX1" fmla="*/ 218179 w 530791"/>
                <a:gd name="connsiteY1" fmla="*/ 224202 h 353686"/>
                <a:gd name="connsiteX2" fmla="*/ 379165 w 530791"/>
                <a:gd name="connsiteY2" fmla="*/ 352991 h 353686"/>
                <a:gd name="connsiteX3" fmla="*/ 527272 w 530791"/>
                <a:gd name="connsiteY3" fmla="*/ 166247 h 353686"/>
                <a:gd name="connsiteX4" fmla="*/ 224618 w 530791"/>
                <a:gd name="connsiteY4" fmla="*/ 11701 h 353686"/>
                <a:gd name="connsiteX5" fmla="*/ 44314 w 530791"/>
                <a:gd name="connsiteY5" fmla="*/ 18140 h 353686"/>
                <a:gd name="connsiteX6" fmla="*/ 12117 w 530791"/>
                <a:gd name="connsiteY6" fmla="*/ 82534 h 3536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30791" h="353686">
                  <a:moveTo>
                    <a:pt x="12117" y="82534"/>
                  </a:moveTo>
                  <a:cubicBezTo>
                    <a:pt x="41094" y="116878"/>
                    <a:pt x="157004" y="179126"/>
                    <a:pt x="218179" y="224202"/>
                  </a:cubicBezTo>
                  <a:cubicBezTo>
                    <a:pt x="279354" y="269278"/>
                    <a:pt x="327650" y="362650"/>
                    <a:pt x="379165" y="352991"/>
                  </a:cubicBezTo>
                  <a:cubicBezTo>
                    <a:pt x="430680" y="343332"/>
                    <a:pt x="553030" y="223129"/>
                    <a:pt x="527272" y="166247"/>
                  </a:cubicBezTo>
                  <a:cubicBezTo>
                    <a:pt x="501514" y="109365"/>
                    <a:pt x="305111" y="36385"/>
                    <a:pt x="224618" y="11701"/>
                  </a:cubicBezTo>
                  <a:cubicBezTo>
                    <a:pt x="144125" y="-12984"/>
                    <a:pt x="77584" y="7408"/>
                    <a:pt x="44314" y="18140"/>
                  </a:cubicBezTo>
                  <a:cubicBezTo>
                    <a:pt x="11044" y="28872"/>
                    <a:pt x="-16860" y="48190"/>
                    <a:pt x="12117" y="82534"/>
                  </a:cubicBezTo>
                  <a:close/>
                </a:path>
              </a:pathLst>
            </a:custGeom>
            <a:noFill/>
            <a:ln w="28575">
              <a:solidFill>
                <a:srgbClr val="C0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9" name="フリーフォーム 18">
              <a:extLst>
                <a:ext uri="{FF2B5EF4-FFF2-40B4-BE49-F238E27FC236}">
                  <a16:creationId xmlns:a16="http://schemas.microsoft.com/office/drawing/2014/main" id="{00682B3E-2A10-01C8-1FCD-7CA632E9EC3C}"/>
                </a:ext>
              </a:extLst>
            </p:cNvPr>
            <p:cNvSpPr/>
            <p:nvPr/>
          </p:nvSpPr>
          <p:spPr>
            <a:xfrm>
              <a:off x="6799447" y="4164703"/>
              <a:ext cx="227668" cy="217714"/>
            </a:xfrm>
            <a:custGeom>
              <a:avLst/>
              <a:gdLst>
                <a:gd name="connsiteX0" fmla="*/ 2696 w 227668"/>
                <a:gd name="connsiteY0" fmla="*/ 217714 h 217714"/>
                <a:gd name="connsiteX1" fmla="*/ 31725 w 227668"/>
                <a:gd name="connsiteY1" fmla="*/ 50800 h 217714"/>
                <a:gd name="connsiteX2" fmla="*/ 227668 w 227668"/>
                <a:gd name="connsiteY2" fmla="*/ 0 h 217714"/>
                <a:gd name="connsiteX3" fmla="*/ 227668 w 227668"/>
                <a:gd name="connsiteY3" fmla="*/ 0 h 217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7668" h="217714">
                  <a:moveTo>
                    <a:pt x="2696" y="217714"/>
                  </a:moveTo>
                  <a:cubicBezTo>
                    <a:pt x="-1537" y="152400"/>
                    <a:pt x="-5770" y="87086"/>
                    <a:pt x="31725" y="50800"/>
                  </a:cubicBezTo>
                  <a:cubicBezTo>
                    <a:pt x="69220" y="14514"/>
                    <a:pt x="227668" y="0"/>
                    <a:pt x="227668" y="0"/>
                  </a:cubicBezTo>
                  <a:lnTo>
                    <a:pt x="227668" y="0"/>
                  </a:lnTo>
                </a:path>
              </a:pathLst>
            </a:custGeom>
            <a:noFill/>
            <a:ln w="28575">
              <a:solidFill>
                <a:srgbClr val="C0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0" name="フリーフォーム 19">
              <a:extLst>
                <a:ext uri="{FF2B5EF4-FFF2-40B4-BE49-F238E27FC236}">
                  <a16:creationId xmlns:a16="http://schemas.microsoft.com/office/drawing/2014/main" id="{F2A7CBBE-0C9C-E932-3248-9E239E5C32EF}"/>
                </a:ext>
              </a:extLst>
            </p:cNvPr>
            <p:cNvSpPr/>
            <p:nvPr/>
          </p:nvSpPr>
          <p:spPr>
            <a:xfrm>
              <a:off x="7330215" y="3635018"/>
              <a:ext cx="378412" cy="292244"/>
            </a:xfrm>
            <a:custGeom>
              <a:avLst/>
              <a:gdLst>
                <a:gd name="connsiteX0" fmla="*/ 166414 w 378412"/>
                <a:gd name="connsiteY0" fmla="*/ 291096 h 292244"/>
                <a:gd name="connsiteX1" fmla="*/ 6756 w 378412"/>
                <a:gd name="connsiteY1" fmla="*/ 131439 h 292244"/>
                <a:gd name="connsiteX2" fmla="*/ 64814 w 378412"/>
                <a:gd name="connsiteY2" fmla="*/ 8068 h 292244"/>
                <a:gd name="connsiteX3" fmla="*/ 376871 w 378412"/>
                <a:gd name="connsiteY3" fmla="*/ 44353 h 292244"/>
                <a:gd name="connsiteX4" fmla="*/ 166414 w 378412"/>
                <a:gd name="connsiteY4" fmla="*/ 291096 h 292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8412" h="292244">
                  <a:moveTo>
                    <a:pt x="166414" y="291096"/>
                  </a:moveTo>
                  <a:cubicBezTo>
                    <a:pt x="104728" y="305610"/>
                    <a:pt x="23689" y="178610"/>
                    <a:pt x="6756" y="131439"/>
                  </a:cubicBezTo>
                  <a:cubicBezTo>
                    <a:pt x="-10177" y="84268"/>
                    <a:pt x="3128" y="22582"/>
                    <a:pt x="64814" y="8068"/>
                  </a:cubicBezTo>
                  <a:cubicBezTo>
                    <a:pt x="126500" y="-6446"/>
                    <a:pt x="357519" y="-5237"/>
                    <a:pt x="376871" y="44353"/>
                  </a:cubicBezTo>
                  <a:cubicBezTo>
                    <a:pt x="396223" y="93943"/>
                    <a:pt x="228100" y="276582"/>
                    <a:pt x="166414" y="291096"/>
                  </a:cubicBezTo>
                  <a:close/>
                </a:path>
              </a:pathLst>
            </a:custGeom>
            <a:noFill/>
            <a:ln w="28575">
              <a:solidFill>
                <a:srgbClr val="C00000"/>
              </a:solidFill>
              <a:prstDash val="dash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1" name="フリーフォーム 20">
              <a:extLst>
                <a:ext uri="{FF2B5EF4-FFF2-40B4-BE49-F238E27FC236}">
                  <a16:creationId xmlns:a16="http://schemas.microsoft.com/office/drawing/2014/main" id="{C2ED6743-C3BD-B19D-95B6-CE1C432F1784}"/>
                </a:ext>
              </a:extLst>
            </p:cNvPr>
            <p:cNvSpPr/>
            <p:nvPr/>
          </p:nvSpPr>
          <p:spPr>
            <a:xfrm>
              <a:off x="7464659" y="2917704"/>
              <a:ext cx="396829" cy="541479"/>
            </a:xfrm>
            <a:custGeom>
              <a:avLst/>
              <a:gdLst>
                <a:gd name="connsiteX0" fmla="*/ 373001 w 396829"/>
                <a:gd name="connsiteY0" fmla="*/ 461581 h 541479"/>
                <a:gd name="connsiteX1" fmla="*/ 175149 w 396829"/>
                <a:gd name="connsiteY1" fmla="*/ 509707 h 541479"/>
                <a:gd name="connsiteX2" fmla="*/ 4033 w 396829"/>
                <a:gd name="connsiteY2" fmla="*/ 7054 h 541479"/>
                <a:gd name="connsiteX3" fmla="*/ 351612 w 396829"/>
                <a:gd name="connsiteY3" fmla="*/ 231644 h 541479"/>
                <a:gd name="connsiteX4" fmla="*/ 373001 w 396829"/>
                <a:gd name="connsiteY4" fmla="*/ 461581 h 541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6829" h="541479">
                  <a:moveTo>
                    <a:pt x="373001" y="461581"/>
                  </a:moveTo>
                  <a:cubicBezTo>
                    <a:pt x="343590" y="507925"/>
                    <a:pt x="236644" y="585461"/>
                    <a:pt x="175149" y="509707"/>
                  </a:cubicBezTo>
                  <a:cubicBezTo>
                    <a:pt x="113654" y="433953"/>
                    <a:pt x="-25378" y="53398"/>
                    <a:pt x="4033" y="7054"/>
                  </a:cubicBezTo>
                  <a:cubicBezTo>
                    <a:pt x="33443" y="-39290"/>
                    <a:pt x="289226" y="154998"/>
                    <a:pt x="351612" y="231644"/>
                  </a:cubicBezTo>
                  <a:cubicBezTo>
                    <a:pt x="413998" y="308290"/>
                    <a:pt x="402412" y="415237"/>
                    <a:pt x="373001" y="461581"/>
                  </a:cubicBezTo>
                  <a:close/>
                </a:path>
              </a:pathLst>
            </a:custGeom>
            <a:noFill/>
            <a:ln w="28575">
              <a:solidFill>
                <a:srgbClr val="C00000"/>
              </a:solidFill>
              <a:prstDash val="dash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2" name="フリーフォーム 21">
              <a:extLst>
                <a:ext uri="{FF2B5EF4-FFF2-40B4-BE49-F238E27FC236}">
                  <a16:creationId xmlns:a16="http://schemas.microsoft.com/office/drawing/2014/main" id="{8DFD74A6-579D-98F6-0010-01C0CDE03250}"/>
                </a:ext>
              </a:extLst>
            </p:cNvPr>
            <p:cNvSpPr/>
            <p:nvPr/>
          </p:nvSpPr>
          <p:spPr>
            <a:xfrm rot="6267630">
              <a:off x="7816029" y="3308466"/>
              <a:ext cx="303370" cy="477271"/>
            </a:xfrm>
            <a:custGeom>
              <a:avLst/>
              <a:gdLst>
                <a:gd name="connsiteX0" fmla="*/ 166414 w 378412"/>
                <a:gd name="connsiteY0" fmla="*/ 291096 h 292244"/>
                <a:gd name="connsiteX1" fmla="*/ 6756 w 378412"/>
                <a:gd name="connsiteY1" fmla="*/ 131439 h 292244"/>
                <a:gd name="connsiteX2" fmla="*/ 64814 w 378412"/>
                <a:gd name="connsiteY2" fmla="*/ 8068 h 292244"/>
                <a:gd name="connsiteX3" fmla="*/ 376871 w 378412"/>
                <a:gd name="connsiteY3" fmla="*/ 44353 h 292244"/>
                <a:gd name="connsiteX4" fmla="*/ 166414 w 378412"/>
                <a:gd name="connsiteY4" fmla="*/ 291096 h 292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8412" h="292244">
                  <a:moveTo>
                    <a:pt x="166414" y="291096"/>
                  </a:moveTo>
                  <a:cubicBezTo>
                    <a:pt x="104728" y="305610"/>
                    <a:pt x="23689" y="178610"/>
                    <a:pt x="6756" y="131439"/>
                  </a:cubicBezTo>
                  <a:cubicBezTo>
                    <a:pt x="-10177" y="84268"/>
                    <a:pt x="3128" y="22582"/>
                    <a:pt x="64814" y="8068"/>
                  </a:cubicBezTo>
                  <a:cubicBezTo>
                    <a:pt x="126500" y="-6446"/>
                    <a:pt x="357519" y="-5237"/>
                    <a:pt x="376871" y="44353"/>
                  </a:cubicBezTo>
                  <a:cubicBezTo>
                    <a:pt x="396223" y="93943"/>
                    <a:pt x="228100" y="276582"/>
                    <a:pt x="166414" y="291096"/>
                  </a:cubicBezTo>
                  <a:close/>
                </a:path>
              </a:pathLst>
            </a:custGeom>
            <a:noFill/>
            <a:ln w="28575">
              <a:solidFill>
                <a:srgbClr val="C00000"/>
              </a:solidFill>
              <a:prstDash val="dash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15AA0E56-8C03-772D-6FE9-1000F2CD79F6}"/>
              </a:ext>
            </a:extLst>
          </p:cNvPr>
          <p:cNvSpPr txBox="1"/>
          <p:nvPr/>
        </p:nvSpPr>
        <p:spPr>
          <a:xfrm>
            <a:off x="4417496" y="3013734"/>
            <a:ext cx="99752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100" b="1" dirty="0">
                <a:latin typeface="Arial" panose="020B0604020202020204" pitchFamily="34" charset="0"/>
                <a:cs typeface="Arial" panose="020B0604020202020204" pitchFamily="34" charset="0"/>
              </a:rPr>
              <a:t>Granule</a:t>
            </a:r>
            <a:endParaRPr kumimoji="1" lang="ja-JP" altLang="en-US" sz="11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92BADDA4-2891-08B5-C230-EB57DE6A9F21}"/>
              </a:ext>
            </a:extLst>
          </p:cNvPr>
          <p:cNvSpPr txBox="1"/>
          <p:nvPr/>
        </p:nvSpPr>
        <p:spPr>
          <a:xfrm>
            <a:off x="6421524" y="2066033"/>
            <a:ext cx="121200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100" b="1" dirty="0">
                <a:latin typeface="Arial" panose="020B0604020202020204" pitchFamily="34" charset="0"/>
                <a:cs typeface="Arial" panose="020B0604020202020204" pitchFamily="34" charset="0"/>
              </a:rPr>
              <a:t>Astrocytes</a:t>
            </a:r>
            <a:endParaRPr kumimoji="1" lang="ja-JP" altLang="en-US" sz="14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F4EE5D3A-5B87-544C-C129-B09B2BB5509A}"/>
              </a:ext>
            </a:extLst>
          </p:cNvPr>
          <p:cNvSpPr txBox="1"/>
          <p:nvPr/>
        </p:nvSpPr>
        <p:spPr>
          <a:xfrm>
            <a:off x="4841723" y="3873202"/>
            <a:ext cx="138337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100" b="1" dirty="0">
                <a:latin typeface="Arial" panose="020B0604020202020204" pitchFamily="34" charset="0"/>
                <a:cs typeface="Arial" panose="020B0604020202020204" pitchFamily="34" charset="0"/>
              </a:rPr>
              <a:t>Bergmann glia</a:t>
            </a:r>
            <a:endParaRPr kumimoji="1" lang="ja-JP" altLang="en-US" sz="11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668C80DE-9924-5B82-3C90-DDED83631C96}"/>
              </a:ext>
            </a:extLst>
          </p:cNvPr>
          <p:cNvSpPr txBox="1"/>
          <p:nvPr/>
        </p:nvSpPr>
        <p:spPr>
          <a:xfrm>
            <a:off x="7483569" y="3807713"/>
            <a:ext cx="94397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100" b="1" dirty="0">
                <a:latin typeface="Arial" panose="020B0604020202020204" pitchFamily="34" charset="0"/>
                <a:cs typeface="Arial" panose="020B0604020202020204" pitchFamily="34" charset="0"/>
              </a:rPr>
              <a:t>Purkinje</a:t>
            </a:r>
            <a:endParaRPr kumimoji="1" lang="ja-JP" altLang="en-US" sz="14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C3FAC283-DFC7-3697-48E7-C0A76CD2A671}"/>
              </a:ext>
            </a:extLst>
          </p:cNvPr>
          <p:cNvSpPr txBox="1"/>
          <p:nvPr/>
        </p:nvSpPr>
        <p:spPr>
          <a:xfrm>
            <a:off x="6584983" y="3347674"/>
            <a:ext cx="94397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100" b="1" dirty="0">
                <a:latin typeface="Arial" panose="020B0604020202020204" pitchFamily="34" charset="0"/>
                <a:cs typeface="Arial" panose="020B0604020202020204" pitchFamily="34" charset="0"/>
              </a:rPr>
              <a:t>Microglia</a:t>
            </a:r>
            <a:endParaRPr kumimoji="1" lang="ja-JP" altLang="en-US" sz="14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1B547E88-09EF-BE75-CD85-27351EB6D6A3}"/>
              </a:ext>
            </a:extLst>
          </p:cNvPr>
          <p:cNvSpPr txBox="1"/>
          <p:nvPr/>
        </p:nvSpPr>
        <p:spPr>
          <a:xfrm>
            <a:off x="6737721" y="4753064"/>
            <a:ext cx="70677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100" b="1" dirty="0">
                <a:latin typeface="Arial" panose="020B0604020202020204" pitchFamily="34" charset="0"/>
                <a:cs typeface="Arial" panose="020B0604020202020204" pitchFamily="34" charset="0"/>
              </a:rPr>
              <a:t>OPC</a:t>
            </a:r>
            <a:endParaRPr kumimoji="1" lang="ja-JP" altLang="en-US" sz="14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AE1BC633-86F4-D58F-0CEC-9A446273F61F}"/>
              </a:ext>
            </a:extLst>
          </p:cNvPr>
          <p:cNvSpPr txBox="1"/>
          <p:nvPr/>
        </p:nvSpPr>
        <p:spPr>
          <a:xfrm>
            <a:off x="6810873" y="4008713"/>
            <a:ext cx="14450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100" b="1" dirty="0">
                <a:latin typeface="Arial" panose="020B0604020202020204" pitchFamily="34" charset="0"/>
                <a:cs typeface="Arial" panose="020B0604020202020204" pitchFamily="34" charset="0"/>
              </a:rPr>
              <a:t>Oligodendrocytes</a:t>
            </a:r>
            <a:endParaRPr kumimoji="1" lang="ja-JP" altLang="en-US" sz="14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0771AA84-E896-62C8-072F-360B904B58D5}"/>
              </a:ext>
            </a:extLst>
          </p:cNvPr>
          <p:cNvSpPr txBox="1"/>
          <p:nvPr/>
        </p:nvSpPr>
        <p:spPr>
          <a:xfrm>
            <a:off x="5688251" y="5107443"/>
            <a:ext cx="10884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100" b="1" dirty="0">
                <a:latin typeface="Arial" panose="020B0604020202020204" pitchFamily="34" charset="0"/>
                <a:cs typeface="Arial" panose="020B0604020202020204" pitchFamily="34" charset="0"/>
              </a:rPr>
              <a:t>Interneurons</a:t>
            </a:r>
            <a:endParaRPr kumimoji="1" lang="ja-JP" altLang="en-US" sz="14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894F7FD1-A8B2-D937-702B-4AB510C5352B}"/>
              </a:ext>
            </a:extLst>
          </p:cNvPr>
          <p:cNvSpPr txBox="1"/>
          <p:nvPr/>
        </p:nvSpPr>
        <p:spPr>
          <a:xfrm>
            <a:off x="7593251" y="2875872"/>
            <a:ext cx="10884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100" b="1" dirty="0">
                <a:latin typeface="Arial" panose="020B0604020202020204" pitchFamily="34" charset="0"/>
                <a:cs typeface="Arial" panose="020B0604020202020204" pitchFamily="34" charset="0"/>
              </a:rPr>
              <a:t>Endothelial</a:t>
            </a:r>
            <a:endParaRPr kumimoji="1" lang="ja-JP" altLang="en-US" sz="14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B7B75B15-F2DE-3302-8366-9C6F47E07DB7}"/>
              </a:ext>
            </a:extLst>
          </p:cNvPr>
          <p:cNvSpPr txBox="1"/>
          <p:nvPr/>
        </p:nvSpPr>
        <p:spPr>
          <a:xfrm>
            <a:off x="8028680" y="3616101"/>
            <a:ext cx="10884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100" b="1" dirty="0">
                <a:latin typeface="Arial" panose="020B0604020202020204" pitchFamily="34" charset="0"/>
                <a:cs typeface="Arial" panose="020B0604020202020204" pitchFamily="34" charset="0"/>
              </a:rPr>
              <a:t>Fibroblasts</a:t>
            </a:r>
            <a:endParaRPr kumimoji="1" lang="ja-JP" altLang="en-US" sz="14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71621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 descr="グラフ, 散布図&#10;&#10;自動的に生成された説明">
            <a:extLst>
              <a:ext uri="{FF2B5EF4-FFF2-40B4-BE49-F238E27FC236}">
                <a16:creationId xmlns:a16="http://schemas.microsoft.com/office/drawing/2014/main" id="{E22158CD-6C3A-B246-0A4A-668EA509E9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9712" y="-277935"/>
            <a:ext cx="7743094" cy="7743094"/>
          </a:xfrm>
          <a:prstGeom prst="rect">
            <a:avLst/>
          </a:prstGeom>
        </p:spPr>
      </p:pic>
      <p:sp>
        <p:nvSpPr>
          <p:cNvPr id="5" name="フリーフォーム 4">
            <a:extLst>
              <a:ext uri="{FF2B5EF4-FFF2-40B4-BE49-F238E27FC236}">
                <a16:creationId xmlns:a16="http://schemas.microsoft.com/office/drawing/2014/main" id="{89B6D030-1419-E3FC-DD85-A87B18C31E27}"/>
              </a:ext>
            </a:extLst>
          </p:cNvPr>
          <p:cNvSpPr/>
          <p:nvPr/>
        </p:nvSpPr>
        <p:spPr>
          <a:xfrm>
            <a:off x="4391541" y="2759383"/>
            <a:ext cx="1162295" cy="2008645"/>
          </a:xfrm>
          <a:custGeom>
            <a:avLst/>
            <a:gdLst>
              <a:gd name="connsiteX0" fmla="*/ 674073 w 1162295"/>
              <a:gd name="connsiteY0" fmla="*/ 24165 h 2073270"/>
              <a:gd name="connsiteX1" fmla="*/ 83355 w 1162295"/>
              <a:gd name="connsiteY1" fmla="*/ 307386 h 2073270"/>
              <a:gd name="connsiteX2" fmla="*/ 67171 w 1162295"/>
              <a:gd name="connsiteY2" fmla="*/ 1335075 h 2073270"/>
              <a:gd name="connsiteX3" fmla="*/ 674073 w 1162295"/>
              <a:gd name="connsiteY3" fmla="*/ 2063358 h 2073270"/>
              <a:gd name="connsiteX4" fmla="*/ 1159595 w 1162295"/>
              <a:gd name="connsiteY4" fmla="*/ 1723492 h 2073270"/>
              <a:gd name="connsiteX5" fmla="*/ 876374 w 1162295"/>
              <a:gd name="connsiteY5" fmla="*/ 1246062 h 2073270"/>
              <a:gd name="connsiteX6" fmla="*/ 1013939 w 1162295"/>
              <a:gd name="connsiteY6" fmla="*/ 817184 h 2073270"/>
              <a:gd name="connsiteX7" fmla="*/ 674073 w 1162295"/>
              <a:gd name="connsiteY7" fmla="*/ 24165 h 20732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62295" h="2073270">
                <a:moveTo>
                  <a:pt x="674073" y="24165"/>
                </a:moveTo>
                <a:cubicBezTo>
                  <a:pt x="518976" y="-60801"/>
                  <a:pt x="184505" y="88901"/>
                  <a:pt x="83355" y="307386"/>
                </a:cubicBezTo>
                <a:cubicBezTo>
                  <a:pt x="-17795" y="525871"/>
                  <a:pt x="-31282" y="1042413"/>
                  <a:pt x="67171" y="1335075"/>
                </a:cubicBezTo>
                <a:cubicBezTo>
                  <a:pt x="165624" y="1627737"/>
                  <a:pt x="492002" y="1998622"/>
                  <a:pt x="674073" y="2063358"/>
                </a:cubicBezTo>
                <a:cubicBezTo>
                  <a:pt x="856144" y="2128094"/>
                  <a:pt x="1125878" y="1859708"/>
                  <a:pt x="1159595" y="1723492"/>
                </a:cubicBezTo>
                <a:cubicBezTo>
                  <a:pt x="1193312" y="1587276"/>
                  <a:pt x="900650" y="1397113"/>
                  <a:pt x="876374" y="1246062"/>
                </a:cubicBezTo>
                <a:cubicBezTo>
                  <a:pt x="852098" y="1095011"/>
                  <a:pt x="1044958" y="1023531"/>
                  <a:pt x="1013939" y="817184"/>
                </a:cubicBezTo>
                <a:cubicBezTo>
                  <a:pt x="982920" y="610837"/>
                  <a:pt x="829170" y="109131"/>
                  <a:pt x="674073" y="24165"/>
                </a:cubicBezTo>
                <a:close/>
              </a:path>
            </a:pathLst>
          </a:custGeom>
          <a:noFill/>
          <a:ln w="28575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フリーフォーム 5">
            <a:extLst>
              <a:ext uri="{FF2B5EF4-FFF2-40B4-BE49-F238E27FC236}">
                <a16:creationId xmlns:a16="http://schemas.microsoft.com/office/drawing/2014/main" id="{46835377-06A0-31CA-9EA9-FC08B23031C2}"/>
              </a:ext>
            </a:extLst>
          </p:cNvPr>
          <p:cNvSpPr/>
          <p:nvPr/>
        </p:nvSpPr>
        <p:spPr>
          <a:xfrm>
            <a:off x="6273234" y="2618862"/>
            <a:ext cx="1155270" cy="824040"/>
          </a:xfrm>
          <a:custGeom>
            <a:avLst/>
            <a:gdLst>
              <a:gd name="connsiteX0" fmla="*/ 46646 w 1155270"/>
              <a:gd name="connsiteY0" fmla="*/ 197166 h 824040"/>
              <a:gd name="connsiteX1" fmla="*/ 443155 w 1155270"/>
              <a:gd name="connsiteY1" fmla="*/ 116246 h 824040"/>
              <a:gd name="connsiteX2" fmla="*/ 710193 w 1155270"/>
              <a:gd name="connsiteY2" fmla="*/ 2957 h 824040"/>
              <a:gd name="connsiteX3" fmla="*/ 1155254 w 1155270"/>
              <a:gd name="connsiteY3" fmla="*/ 245719 h 824040"/>
              <a:gd name="connsiteX4" fmla="*/ 694008 w 1155270"/>
              <a:gd name="connsiteY4" fmla="*/ 820253 h 824040"/>
              <a:gd name="connsiteX5" fmla="*/ 532168 w 1155270"/>
              <a:gd name="connsiteY5" fmla="*/ 488480 h 824040"/>
              <a:gd name="connsiteX6" fmla="*/ 62830 w 1155270"/>
              <a:gd name="connsiteY6" fmla="*/ 359007 h 824040"/>
              <a:gd name="connsiteX7" fmla="*/ 46646 w 1155270"/>
              <a:gd name="connsiteY7" fmla="*/ 197166 h 824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55270" h="824040">
                <a:moveTo>
                  <a:pt x="46646" y="197166"/>
                </a:moveTo>
                <a:cubicBezTo>
                  <a:pt x="110033" y="156706"/>
                  <a:pt x="332564" y="148614"/>
                  <a:pt x="443155" y="116246"/>
                </a:cubicBezTo>
                <a:cubicBezTo>
                  <a:pt x="553746" y="83878"/>
                  <a:pt x="591510" y="-18622"/>
                  <a:pt x="710193" y="2957"/>
                </a:cubicBezTo>
                <a:cubicBezTo>
                  <a:pt x="828876" y="24536"/>
                  <a:pt x="1157952" y="109503"/>
                  <a:pt x="1155254" y="245719"/>
                </a:cubicBezTo>
                <a:cubicBezTo>
                  <a:pt x="1152557" y="381935"/>
                  <a:pt x="797856" y="779793"/>
                  <a:pt x="694008" y="820253"/>
                </a:cubicBezTo>
                <a:cubicBezTo>
                  <a:pt x="590160" y="860713"/>
                  <a:pt x="637364" y="565354"/>
                  <a:pt x="532168" y="488480"/>
                </a:cubicBezTo>
                <a:cubicBezTo>
                  <a:pt x="426972" y="411606"/>
                  <a:pt x="145099" y="407559"/>
                  <a:pt x="62830" y="359007"/>
                </a:cubicBezTo>
                <a:cubicBezTo>
                  <a:pt x="-19439" y="310455"/>
                  <a:pt x="-16741" y="237626"/>
                  <a:pt x="46646" y="197166"/>
                </a:cubicBezTo>
                <a:close/>
              </a:path>
            </a:pathLst>
          </a:custGeom>
          <a:noFill/>
          <a:ln w="28575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フリーフォーム 6">
            <a:extLst>
              <a:ext uri="{FF2B5EF4-FFF2-40B4-BE49-F238E27FC236}">
                <a16:creationId xmlns:a16="http://schemas.microsoft.com/office/drawing/2014/main" id="{BC6AD2BF-8A41-439A-BDBE-E2F9368C45D1}"/>
              </a:ext>
            </a:extLst>
          </p:cNvPr>
          <p:cNvSpPr/>
          <p:nvPr/>
        </p:nvSpPr>
        <p:spPr>
          <a:xfrm>
            <a:off x="6562591" y="1238070"/>
            <a:ext cx="348007" cy="299437"/>
          </a:xfrm>
          <a:custGeom>
            <a:avLst/>
            <a:gdLst>
              <a:gd name="connsiteX0" fmla="*/ 178074 w 348007"/>
              <a:gd name="connsiteY0" fmla="*/ 299417 h 299437"/>
              <a:gd name="connsiteX1" fmla="*/ 50 w 348007"/>
              <a:gd name="connsiteY1" fmla="*/ 169944 h 299437"/>
              <a:gd name="connsiteX2" fmla="*/ 161890 w 348007"/>
              <a:gd name="connsiteY2" fmla="*/ 11 h 299437"/>
              <a:gd name="connsiteX3" fmla="*/ 348007 w 348007"/>
              <a:gd name="connsiteY3" fmla="*/ 178036 h 299437"/>
              <a:gd name="connsiteX4" fmla="*/ 178074 w 348007"/>
              <a:gd name="connsiteY4" fmla="*/ 299417 h 2994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8007" h="299437">
                <a:moveTo>
                  <a:pt x="178074" y="299417"/>
                </a:moveTo>
                <a:cubicBezTo>
                  <a:pt x="120081" y="298068"/>
                  <a:pt x="2747" y="219845"/>
                  <a:pt x="50" y="169944"/>
                </a:cubicBezTo>
                <a:cubicBezTo>
                  <a:pt x="-2647" y="120043"/>
                  <a:pt x="103897" y="-1338"/>
                  <a:pt x="161890" y="11"/>
                </a:cubicBezTo>
                <a:cubicBezTo>
                  <a:pt x="219883" y="1360"/>
                  <a:pt x="348007" y="121392"/>
                  <a:pt x="348007" y="178036"/>
                </a:cubicBezTo>
                <a:cubicBezTo>
                  <a:pt x="348007" y="234680"/>
                  <a:pt x="236067" y="300766"/>
                  <a:pt x="178074" y="299417"/>
                </a:cubicBezTo>
                <a:close/>
              </a:path>
            </a:pathLst>
          </a:custGeom>
          <a:noFill/>
          <a:ln w="28575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フリーフォーム 8">
            <a:extLst>
              <a:ext uri="{FF2B5EF4-FFF2-40B4-BE49-F238E27FC236}">
                <a16:creationId xmlns:a16="http://schemas.microsoft.com/office/drawing/2014/main" id="{7CF94938-413F-8187-002A-4966282999C5}"/>
              </a:ext>
            </a:extLst>
          </p:cNvPr>
          <p:cNvSpPr/>
          <p:nvPr/>
        </p:nvSpPr>
        <p:spPr>
          <a:xfrm>
            <a:off x="6093253" y="1577935"/>
            <a:ext cx="348007" cy="299437"/>
          </a:xfrm>
          <a:custGeom>
            <a:avLst/>
            <a:gdLst>
              <a:gd name="connsiteX0" fmla="*/ 178074 w 348007"/>
              <a:gd name="connsiteY0" fmla="*/ 299417 h 299437"/>
              <a:gd name="connsiteX1" fmla="*/ 50 w 348007"/>
              <a:gd name="connsiteY1" fmla="*/ 169944 h 299437"/>
              <a:gd name="connsiteX2" fmla="*/ 161890 w 348007"/>
              <a:gd name="connsiteY2" fmla="*/ 11 h 299437"/>
              <a:gd name="connsiteX3" fmla="*/ 348007 w 348007"/>
              <a:gd name="connsiteY3" fmla="*/ 178036 h 299437"/>
              <a:gd name="connsiteX4" fmla="*/ 178074 w 348007"/>
              <a:gd name="connsiteY4" fmla="*/ 299417 h 2994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8007" h="299437">
                <a:moveTo>
                  <a:pt x="178074" y="299417"/>
                </a:moveTo>
                <a:cubicBezTo>
                  <a:pt x="120081" y="298068"/>
                  <a:pt x="2747" y="219845"/>
                  <a:pt x="50" y="169944"/>
                </a:cubicBezTo>
                <a:cubicBezTo>
                  <a:pt x="-2647" y="120043"/>
                  <a:pt x="103897" y="-1338"/>
                  <a:pt x="161890" y="11"/>
                </a:cubicBezTo>
                <a:cubicBezTo>
                  <a:pt x="219883" y="1360"/>
                  <a:pt x="348007" y="121392"/>
                  <a:pt x="348007" y="178036"/>
                </a:cubicBezTo>
                <a:cubicBezTo>
                  <a:pt x="348007" y="234680"/>
                  <a:pt x="236067" y="300766"/>
                  <a:pt x="178074" y="299417"/>
                </a:cubicBezTo>
                <a:close/>
              </a:path>
            </a:pathLst>
          </a:custGeom>
          <a:noFill/>
          <a:ln w="28575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フリーフォーム 9">
            <a:extLst>
              <a:ext uri="{FF2B5EF4-FFF2-40B4-BE49-F238E27FC236}">
                <a16:creationId xmlns:a16="http://schemas.microsoft.com/office/drawing/2014/main" id="{836036ED-75FD-4ADE-4F3C-34B1039936EC}"/>
              </a:ext>
            </a:extLst>
          </p:cNvPr>
          <p:cNvSpPr/>
          <p:nvPr/>
        </p:nvSpPr>
        <p:spPr>
          <a:xfrm>
            <a:off x="7686543" y="2056831"/>
            <a:ext cx="406705" cy="958175"/>
          </a:xfrm>
          <a:custGeom>
            <a:avLst/>
            <a:gdLst>
              <a:gd name="connsiteX0" fmla="*/ 243652 w 406705"/>
              <a:gd name="connsiteY0" fmla="*/ 953406 h 958175"/>
              <a:gd name="connsiteX1" fmla="*/ 891 w 406705"/>
              <a:gd name="connsiteY1" fmla="*/ 654001 h 958175"/>
              <a:gd name="connsiteX2" fmla="*/ 170823 w 406705"/>
              <a:gd name="connsiteY2" fmla="*/ 6638 h 958175"/>
              <a:gd name="connsiteX3" fmla="*/ 405492 w 406705"/>
              <a:gd name="connsiteY3" fmla="*/ 330319 h 958175"/>
              <a:gd name="connsiteX4" fmla="*/ 267928 w 406705"/>
              <a:gd name="connsiteY4" fmla="*/ 532620 h 958175"/>
              <a:gd name="connsiteX5" fmla="*/ 389308 w 406705"/>
              <a:gd name="connsiteY5" fmla="*/ 815842 h 958175"/>
              <a:gd name="connsiteX6" fmla="*/ 243652 w 406705"/>
              <a:gd name="connsiteY6" fmla="*/ 953406 h 958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6705" h="958175">
                <a:moveTo>
                  <a:pt x="243652" y="953406"/>
                </a:moveTo>
                <a:cubicBezTo>
                  <a:pt x="178916" y="926433"/>
                  <a:pt x="13029" y="811796"/>
                  <a:pt x="891" y="654001"/>
                </a:cubicBezTo>
                <a:cubicBezTo>
                  <a:pt x="-11247" y="496206"/>
                  <a:pt x="103389" y="60585"/>
                  <a:pt x="170823" y="6638"/>
                </a:cubicBezTo>
                <a:cubicBezTo>
                  <a:pt x="238256" y="-47309"/>
                  <a:pt x="389308" y="242655"/>
                  <a:pt x="405492" y="330319"/>
                </a:cubicBezTo>
                <a:cubicBezTo>
                  <a:pt x="421676" y="417983"/>
                  <a:pt x="270625" y="451700"/>
                  <a:pt x="267928" y="532620"/>
                </a:cubicBezTo>
                <a:cubicBezTo>
                  <a:pt x="265231" y="613540"/>
                  <a:pt x="392005" y="744362"/>
                  <a:pt x="389308" y="815842"/>
                </a:cubicBezTo>
                <a:cubicBezTo>
                  <a:pt x="386611" y="887322"/>
                  <a:pt x="308388" y="980379"/>
                  <a:pt x="243652" y="953406"/>
                </a:cubicBezTo>
                <a:close/>
              </a:path>
            </a:pathLst>
          </a:custGeom>
          <a:noFill/>
          <a:ln w="28575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フリーフォーム 10">
            <a:extLst>
              <a:ext uri="{FF2B5EF4-FFF2-40B4-BE49-F238E27FC236}">
                <a16:creationId xmlns:a16="http://schemas.microsoft.com/office/drawing/2014/main" id="{8D52C57A-6124-4552-1597-45474ED0164B}"/>
              </a:ext>
            </a:extLst>
          </p:cNvPr>
          <p:cNvSpPr/>
          <p:nvPr/>
        </p:nvSpPr>
        <p:spPr>
          <a:xfrm>
            <a:off x="6109433" y="3678135"/>
            <a:ext cx="348007" cy="299437"/>
          </a:xfrm>
          <a:custGeom>
            <a:avLst/>
            <a:gdLst>
              <a:gd name="connsiteX0" fmla="*/ 178074 w 348007"/>
              <a:gd name="connsiteY0" fmla="*/ 299417 h 299437"/>
              <a:gd name="connsiteX1" fmla="*/ 50 w 348007"/>
              <a:gd name="connsiteY1" fmla="*/ 169944 h 299437"/>
              <a:gd name="connsiteX2" fmla="*/ 161890 w 348007"/>
              <a:gd name="connsiteY2" fmla="*/ 11 h 299437"/>
              <a:gd name="connsiteX3" fmla="*/ 348007 w 348007"/>
              <a:gd name="connsiteY3" fmla="*/ 178036 h 299437"/>
              <a:gd name="connsiteX4" fmla="*/ 178074 w 348007"/>
              <a:gd name="connsiteY4" fmla="*/ 299417 h 2994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8007" h="299437">
                <a:moveTo>
                  <a:pt x="178074" y="299417"/>
                </a:moveTo>
                <a:cubicBezTo>
                  <a:pt x="120081" y="298068"/>
                  <a:pt x="2747" y="219845"/>
                  <a:pt x="50" y="169944"/>
                </a:cubicBezTo>
                <a:cubicBezTo>
                  <a:pt x="-2647" y="120043"/>
                  <a:pt x="103897" y="-1338"/>
                  <a:pt x="161890" y="11"/>
                </a:cubicBezTo>
                <a:cubicBezTo>
                  <a:pt x="219883" y="1360"/>
                  <a:pt x="348007" y="121392"/>
                  <a:pt x="348007" y="178036"/>
                </a:cubicBezTo>
                <a:cubicBezTo>
                  <a:pt x="348007" y="234680"/>
                  <a:pt x="236067" y="300766"/>
                  <a:pt x="178074" y="299417"/>
                </a:cubicBezTo>
                <a:close/>
              </a:path>
            </a:pathLst>
          </a:custGeom>
          <a:noFill/>
          <a:ln w="28575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フリーフォーム 12">
            <a:extLst>
              <a:ext uri="{FF2B5EF4-FFF2-40B4-BE49-F238E27FC236}">
                <a16:creationId xmlns:a16="http://schemas.microsoft.com/office/drawing/2014/main" id="{D2B4199D-13BA-3467-ABA8-0A9C380D76D4}"/>
              </a:ext>
            </a:extLst>
          </p:cNvPr>
          <p:cNvSpPr/>
          <p:nvPr/>
        </p:nvSpPr>
        <p:spPr>
          <a:xfrm rot="3987307">
            <a:off x="6769353" y="3803390"/>
            <a:ext cx="348007" cy="299437"/>
          </a:xfrm>
          <a:custGeom>
            <a:avLst/>
            <a:gdLst>
              <a:gd name="connsiteX0" fmla="*/ 178074 w 348007"/>
              <a:gd name="connsiteY0" fmla="*/ 299417 h 299437"/>
              <a:gd name="connsiteX1" fmla="*/ 50 w 348007"/>
              <a:gd name="connsiteY1" fmla="*/ 169944 h 299437"/>
              <a:gd name="connsiteX2" fmla="*/ 161890 w 348007"/>
              <a:gd name="connsiteY2" fmla="*/ 11 h 299437"/>
              <a:gd name="connsiteX3" fmla="*/ 348007 w 348007"/>
              <a:gd name="connsiteY3" fmla="*/ 178036 h 299437"/>
              <a:gd name="connsiteX4" fmla="*/ 178074 w 348007"/>
              <a:gd name="connsiteY4" fmla="*/ 299417 h 2994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8007" h="299437">
                <a:moveTo>
                  <a:pt x="178074" y="299417"/>
                </a:moveTo>
                <a:cubicBezTo>
                  <a:pt x="120081" y="298068"/>
                  <a:pt x="2747" y="219845"/>
                  <a:pt x="50" y="169944"/>
                </a:cubicBezTo>
                <a:cubicBezTo>
                  <a:pt x="-2647" y="120043"/>
                  <a:pt x="103897" y="-1338"/>
                  <a:pt x="161890" y="11"/>
                </a:cubicBezTo>
                <a:cubicBezTo>
                  <a:pt x="219883" y="1360"/>
                  <a:pt x="348007" y="121392"/>
                  <a:pt x="348007" y="178036"/>
                </a:cubicBezTo>
                <a:cubicBezTo>
                  <a:pt x="348007" y="234680"/>
                  <a:pt x="236067" y="300766"/>
                  <a:pt x="178074" y="299417"/>
                </a:cubicBezTo>
                <a:close/>
              </a:path>
            </a:pathLst>
          </a:custGeom>
          <a:noFill/>
          <a:ln w="28575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AA0EEABF-949C-3BED-8641-F08D47F46BC6}"/>
              </a:ext>
            </a:extLst>
          </p:cNvPr>
          <p:cNvSpPr txBox="1"/>
          <p:nvPr/>
        </p:nvSpPr>
        <p:spPr>
          <a:xfrm>
            <a:off x="4504346" y="3593612"/>
            <a:ext cx="99752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100" b="1" dirty="0">
                <a:latin typeface="Arial" panose="020B0604020202020204" pitchFamily="34" charset="0"/>
                <a:cs typeface="Arial" panose="020B0604020202020204" pitchFamily="34" charset="0"/>
              </a:rPr>
              <a:t>Granule</a:t>
            </a:r>
            <a:endParaRPr kumimoji="1" lang="ja-JP" altLang="en-US" sz="11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2EBDE18E-1D55-BF64-67D0-D5BF7075D2AE}"/>
              </a:ext>
            </a:extLst>
          </p:cNvPr>
          <p:cNvSpPr txBox="1"/>
          <p:nvPr/>
        </p:nvSpPr>
        <p:spPr>
          <a:xfrm>
            <a:off x="7549018" y="1795221"/>
            <a:ext cx="10884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100" b="1" dirty="0">
                <a:latin typeface="Arial" panose="020B0604020202020204" pitchFamily="34" charset="0"/>
                <a:cs typeface="Arial" panose="020B0604020202020204" pitchFamily="34" charset="0"/>
              </a:rPr>
              <a:t>Endothelial</a:t>
            </a:r>
            <a:endParaRPr kumimoji="1" lang="ja-JP" altLang="en-US" sz="14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4D202BB7-B5E7-D27A-BFA8-5E868F8C1C2F}"/>
              </a:ext>
            </a:extLst>
          </p:cNvPr>
          <p:cNvSpPr txBox="1"/>
          <p:nvPr/>
        </p:nvSpPr>
        <p:spPr>
          <a:xfrm>
            <a:off x="6306639" y="1003856"/>
            <a:ext cx="10884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100" b="1" dirty="0">
                <a:latin typeface="Arial" panose="020B0604020202020204" pitchFamily="34" charset="0"/>
                <a:cs typeface="Arial" panose="020B0604020202020204" pitchFamily="34" charset="0"/>
              </a:rPr>
              <a:t>Fibroblasts</a:t>
            </a:r>
            <a:endParaRPr kumimoji="1" lang="ja-JP" altLang="en-US" sz="14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6CD3ECED-912E-F55C-064B-2B682016DDFE}"/>
              </a:ext>
            </a:extLst>
          </p:cNvPr>
          <p:cNvSpPr txBox="1"/>
          <p:nvPr/>
        </p:nvSpPr>
        <p:spPr>
          <a:xfrm>
            <a:off x="6850869" y="3593612"/>
            <a:ext cx="94397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100" b="1" dirty="0">
                <a:latin typeface="Arial" panose="020B0604020202020204" pitchFamily="34" charset="0"/>
                <a:cs typeface="Arial" panose="020B0604020202020204" pitchFamily="34" charset="0"/>
              </a:rPr>
              <a:t>Purkinje</a:t>
            </a:r>
            <a:endParaRPr kumimoji="1" lang="ja-JP" altLang="en-US" sz="14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41895251-16AD-97F6-E9D9-E384F4F0B895}"/>
              </a:ext>
            </a:extLst>
          </p:cNvPr>
          <p:cNvSpPr txBox="1"/>
          <p:nvPr/>
        </p:nvSpPr>
        <p:spPr>
          <a:xfrm>
            <a:off x="5906894" y="1854503"/>
            <a:ext cx="94397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100" b="1" dirty="0">
                <a:latin typeface="Arial" panose="020B0604020202020204" pitchFamily="34" charset="0"/>
                <a:cs typeface="Arial" panose="020B0604020202020204" pitchFamily="34" charset="0"/>
              </a:rPr>
              <a:t>Microglia</a:t>
            </a:r>
            <a:endParaRPr kumimoji="1" lang="ja-JP" altLang="en-US" sz="14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BE513A1B-31E6-CE2D-1A53-E375452575FF}"/>
              </a:ext>
            </a:extLst>
          </p:cNvPr>
          <p:cNvSpPr txBox="1"/>
          <p:nvPr/>
        </p:nvSpPr>
        <p:spPr>
          <a:xfrm>
            <a:off x="6065950" y="3444922"/>
            <a:ext cx="70677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100" b="1" dirty="0">
                <a:latin typeface="Arial" panose="020B0604020202020204" pitchFamily="34" charset="0"/>
                <a:cs typeface="Arial" panose="020B0604020202020204" pitchFamily="34" charset="0"/>
              </a:rPr>
              <a:t>OPC</a:t>
            </a:r>
            <a:endParaRPr kumimoji="1" lang="ja-JP" altLang="en-US" sz="14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7B05C91A-DA6B-7069-8281-F516EC90517A}"/>
              </a:ext>
            </a:extLst>
          </p:cNvPr>
          <p:cNvSpPr txBox="1"/>
          <p:nvPr/>
        </p:nvSpPr>
        <p:spPr>
          <a:xfrm>
            <a:off x="6419337" y="2380121"/>
            <a:ext cx="10884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100" b="1" dirty="0">
                <a:latin typeface="Arial" panose="020B0604020202020204" pitchFamily="34" charset="0"/>
                <a:cs typeface="Arial" panose="020B0604020202020204" pitchFamily="34" charset="0"/>
              </a:rPr>
              <a:t>Interneurons</a:t>
            </a:r>
            <a:endParaRPr kumimoji="1" lang="ja-JP" altLang="en-US" sz="14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フリーフォーム 21">
            <a:extLst>
              <a:ext uri="{FF2B5EF4-FFF2-40B4-BE49-F238E27FC236}">
                <a16:creationId xmlns:a16="http://schemas.microsoft.com/office/drawing/2014/main" id="{EBF54B94-EBCF-7E95-3936-4FEDF7E8E9D7}"/>
              </a:ext>
            </a:extLst>
          </p:cNvPr>
          <p:cNvSpPr/>
          <p:nvPr/>
        </p:nvSpPr>
        <p:spPr>
          <a:xfrm>
            <a:off x="5072675" y="2638602"/>
            <a:ext cx="1220362" cy="852120"/>
          </a:xfrm>
          <a:custGeom>
            <a:avLst/>
            <a:gdLst>
              <a:gd name="connsiteX0" fmla="*/ 0 w 1220362"/>
              <a:gd name="connsiteY0" fmla="*/ 117091 h 852120"/>
              <a:gd name="connsiteX1" fmla="*/ 730250 w 1220362"/>
              <a:gd name="connsiteY1" fmla="*/ 9141 h 852120"/>
              <a:gd name="connsiteX2" fmla="*/ 1219200 w 1220362"/>
              <a:gd name="connsiteY2" fmla="*/ 326641 h 852120"/>
              <a:gd name="connsiteX3" fmla="*/ 850900 w 1220362"/>
              <a:gd name="connsiteY3" fmla="*/ 580641 h 852120"/>
              <a:gd name="connsiteX4" fmla="*/ 361950 w 1220362"/>
              <a:gd name="connsiteY4" fmla="*/ 828291 h 852120"/>
              <a:gd name="connsiteX5" fmla="*/ 368300 w 1220362"/>
              <a:gd name="connsiteY5" fmla="*/ 828291 h 8521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20362" h="852120">
                <a:moveTo>
                  <a:pt x="0" y="117091"/>
                </a:moveTo>
                <a:cubicBezTo>
                  <a:pt x="263525" y="45653"/>
                  <a:pt x="527050" y="-25784"/>
                  <a:pt x="730250" y="9141"/>
                </a:cubicBezTo>
                <a:cubicBezTo>
                  <a:pt x="933450" y="44066"/>
                  <a:pt x="1199092" y="231391"/>
                  <a:pt x="1219200" y="326641"/>
                </a:cubicBezTo>
                <a:cubicBezTo>
                  <a:pt x="1239308" y="421891"/>
                  <a:pt x="993775" y="497033"/>
                  <a:pt x="850900" y="580641"/>
                </a:cubicBezTo>
                <a:cubicBezTo>
                  <a:pt x="708025" y="664249"/>
                  <a:pt x="361950" y="828291"/>
                  <a:pt x="361950" y="828291"/>
                </a:cubicBezTo>
                <a:cubicBezTo>
                  <a:pt x="281517" y="869566"/>
                  <a:pt x="324908" y="848928"/>
                  <a:pt x="368300" y="828291"/>
                </a:cubicBezTo>
              </a:path>
            </a:pathLst>
          </a:custGeom>
          <a:noFill/>
          <a:ln w="28575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413A235F-16F8-B07F-1FE3-D9A462FA2164}"/>
              </a:ext>
            </a:extLst>
          </p:cNvPr>
          <p:cNvSpPr txBox="1"/>
          <p:nvPr/>
        </p:nvSpPr>
        <p:spPr>
          <a:xfrm>
            <a:off x="6623294" y="4558364"/>
            <a:ext cx="121200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100" b="1" dirty="0">
                <a:latin typeface="Arial" panose="020B0604020202020204" pitchFamily="34" charset="0"/>
                <a:cs typeface="Arial" panose="020B0604020202020204" pitchFamily="34" charset="0"/>
              </a:rPr>
              <a:t>Astrocytes</a:t>
            </a:r>
            <a:endParaRPr kumimoji="1" lang="ja-JP" altLang="en-US" sz="14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フリーフォーム 23">
            <a:extLst>
              <a:ext uri="{FF2B5EF4-FFF2-40B4-BE49-F238E27FC236}">
                <a16:creationId xmlns:a16="http://schemas.microsoft.com/office/drawing/2014/main" id="{77C85750-18E6-CC24-1C4F-FB08B8AAF748}"/>
              </a:ext>
            </a:extLst>
          </p:cNvPr>
          <p:cNvSpPr/>
          <p:nvPr/>
        </p:nvSpPr>
        <p:spPr>
          <a:xfrm>
            <a:off x="5565590" y="3893945"/>
            <a:ext cx="853747" cy="1302886"/>
          </a:xfrm>
          <a:custGeom>
            <a:avLst/>
            <a:gdLst>
              <a:gd name="connsiteX0" fmla="*/ 567997 w 853747"/>
              <a:gd name="connsiteY0" fmla="*/ 0 h 1302886"/>
              <a:gd name="connsiteX1" fmla="*/ 47297 w 853747"/>
              <a:gd name="connsiteY1" fmla="*/ 463550 h 1302886"/>
              <a:gd name="connsiteX2" fmla="*/ 53647 w 853747"/>
              <a:gd name="connsiteY2" fmla="*/ 838200 h 1302886"/>
              <a:gd name="connsiteX3" fmla="*/ 307647 w 853747"/>
              <a:gd name="connsiteY3" fmla="*/ 1301750 h 1302886"/>
              <a:gd name="connsiteX4" fmla="*/ 472747 w 853747"/>
              <a:gd name="connsiteY4" fmla="*/ 958850 h 1302886"/>
              <a:gd name="connsiteX5" fmla="*/ 491797 w 853747"/>
              <a:gd name="connsiteY5" fmla="*/ 635000 h 1302886"/>
              <a:gd name="connsiteX6" fmla="*/ 853747 w 853747"/>
              <a:gd name="connsiteY6" fmla="*/ 69850 h 13028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53747" h="1302886">
                <a:moveTo>
                  <a:pt x="567997" y="0"/>
                </a:moveTo>
                <a:cubicBezTo>
                  <a:pt x="350509" y="161925"/>
                  <a:pt x="133022" y="323850"/>
                  <a:pt x="47297" y="463550"/>
                </a:cubicBezTo>
                <a:cubicBezTo>
                  <a:pt x="-38428" y="603250"/>
                  <a:pt x="10255" y="698500"/>
                  <a:pt x="53647" y="838200"/>
                </a:cubicBezTo>
                <a:cubicBezTo>
                  <a:pt x="97039" y="977900"/>
                  <a:pt x="237797" y="1281642"/>
                  <a:pt x="307647" y="1301750"/>
                </a:cubicBezTo>
                <a:cubicBezTo>
                  <a:pt x="377497" y="1321858"/>
                  <a:pt x="442055" y="1069975"/>
                  <a:pt x="472747" y="958850"/>
                </a:cubicBezTo>
                <a:cubicBezTo>
                  <a:pt x="503439" y="847725"/>
                  <a:pt x="428297" y="783167"/>
                  <a:pt x="491797" y="635000"/>
                </a:cubicBezTo>
                <a:cubicBezTo>
                  <a:pt x="555297" y="486833"/>
                  <a:pt x="704522" y="278341"/>
                  <a:pt x="853747" y="69850"/>
                </a:cubicBezTo>
              </a:path>
            </a:pathLst>
          </a:custGeom>
          <a:noFill/>
          <a:ln w="28575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25AB4D01-D903-BD44-FD41-8D80BE4FBF4D}"/>
              </a:ext>
            </a:extLst>
          </p:cNvPr>
          <p:cNvSpPr txBox="1"/>
          <p:nvPr/>
        </p:nvSpPr>
        <p:spPr>
          <a:xfrm>
            <a:off x="5560900" y="4229042"/>
            <a:ext cx="14450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100" b="1" dirty="0">
                <a:latin typeface="Arial" panose="020B0604020202020204" pitchFamily="34" charset="0"/>
                <a:cs typeface="Arial" panose="020B0604020202020204" pitchFamily="34" charset="0"/>
              </a:rPr>
              <a:t>Oligodendrocytes</a:t>
            </a:r>
            <a:endParaRPr kumimoji="1" lang="ja-JP" altLang="en-US" sz="14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フリーフォーム 25">
            <a:extLst>
              <a:ext uri="{FF2B5EF4-FFF2-40B4-BE49-F238E27FC236}">
                <a16:creationId xmlns:a16="http://schemas.microsoft.com/office/drawing/2014/main" id="{DBFF4F51-9CFC-291B-69E7-2728E01E4547}"/>
              </a:ext>
            </a:extLst>
          </p:cNvPr>
          <p:cNvSpPr/>
          <p:nvPr/>
        </p:nvSpPr>
        <p:spPr>
          <a:xfrm>
            <a:off x="6026150" y="4483100"/>
            <a:ext cx="935738" cy="911813"/>
          </a:xfrm>
          <a:custGeom>
            <a:avLst/>
            <a:gdLst>
              <a:gd name="connsiteX0" fmla="*/ 0 w 935738"/>
              <a:gd name="connsiteY0" fmla="*/ 222250 h 911813"/>
              <a:gd name="connsiteX1" fmla="*/ 330200 w 935738"/>
              <a:gd name="connsiteY1" fmla="*/ 355600 h 911813"/>
              <a:gd name="connsiteX2" fmla="*/ 641350 w 935738"/>
              <a:gd name="connsiteY2" fmla="*/ 723900 h 911813"/>
              <a:gd name="connsiteX3" fmla="*/ 844550 w 935738"/>
              <a:gd name="connsiteY3" fmla="*/ 908050 h 911813"/>
              <a:gd name="connsiteX4" fmla="*/ 908050 w 935738"/>
              <a:gd name="connsiteY4" fmla="*/ 565150 h 911813"/>
              <a:gd name="connsiteX5" fmla="*/ 400050 w 935738"/>
              <a:gd name="connsiteY5" fmla="*/ 95250 h 911813"/>
              <a:gd name="connsiteX6" fmla="*/ 63500 w 935738"/>
              <a:gd name="connsiteY6" fmla="*/ 0 h 9118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35738" h="911813">
                <a:moveTo>
                  <a:pt x="0" y="222250"/>
                </a:moveTo>
                <a:cubicBezTo>
                  <a:pt x="111654" y="247121"/>
                  <a:pt x="223308" y="271992"/>
                  <a:pt x="330200" y="355600"/>
                </a:cubicBezTo>
                <a:cubicBezTo>
                  <a:pt x="437092" y="439208"/>
                  <a:pt x="555625" y="631825"/>
                  <a:pt x="641350" y="723900"/>
                </a:cubicBezTo>
                <a:cubicBezTo>
                  <a:pt x="727075" y="815975"/>
                  <a:pt x="800100" y="934508"/>
                  <a:pt x="844550" y="908050"/>
                </a:cubicBezTo>
                <a:cubicBezTo>
                  <a:pt x="889000" y="881592"/>
                  <a:pt x="982133" y="700617"/>
                  <a:pt x="908050" y="565150"/>
                </a:cubicBezTo>
                <a:cubicBezTo>
                  <a:pt x="833967" y="429683"/>
                  <a:pt x="540808" y="189442"/>
                  <a:pt x="400050" y="95250"/>
                </a:cubicBezTo>
                <a:cubicBezTo>
                  <a:pt x="259292" y="1058"/>
                  <a:pt x="161396" y="529"/>
                  <a:pt x="63500" y="0"/>
                </a:cubicBezTo>
              </a:path>
            </a:pathLst>
          </a:custGeom>
          <a:noFill/>
          <a:ln w="28575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4192DC90-AE43-8369-A27B-073BB39463BF}"/>
              </a:ext>
            </a:extLst>
          </p:cNvPr>
          <p:cNvSpPr txBox="1"/>
          <p:nvPr/>
        </p:nvSpPr>
        <p:spPr>
          <a:xfrm>
            <a:off x="5003109" y="2401311"/>
            <a:ext cx="138337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100" b="1" dirty="0">
                <a:latin typeface="Arial" panose="020B0604020202020204" pitchFamily="34" charset="0"/>
                <a:cs typeface="Arial" panose="020B0604020202020204" pitchFamily="34" charset="0"/>
              </a:rPr>
              <a:t>Bergmann glia</a:t>
            </a:r>
            <a:endParaRPr kumimoji="1" lang="ja-JP" altLang="en-US" sz="11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29242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6597</TotalTime>
  <Words>22</Words>
  <Application>Microsoft Macintosh PowerPoint</Application>
  <PresentationFormat>ワイド画面</PresentationFormat>
  <Paragraphs>20</Paragraphs>
  <Slides>3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</vt:i4>
      </vt:variant>
    </vt:vector>
  </HeadingPairs>
  <TitlesOfParts>
    <vt:vector size="7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合田　匡助</dc:creator>
  <cp:lastModifiedBy>合田　匡助</cp:lastModifiedBy>
  <cp:revision>4</cp:revision>
  <dcterms:created xsi:type="dcterms:W3CDTF">2025-12-04T09:49:18Z</dcterms:created>
  <dcterms:modified xsi:type="dcterms:W3CDTF">2025-12-09T03:53:37Z</dcterms:modified>
</cp:coreProperties>
</file>